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0578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593252"/>
            <a:ext cx="4575572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NLP PROJECT:
MULTI-PHASE TEXT
CLASSIFICATION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914400" y="3273428"/>
            <a:ext cx="4575572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Preprocessing to LLM Deployment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14400" y="4541639"/>
            <a:ext cx="3084314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Prepared by Mustafa 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82296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PROJECT OVERVIEW:
BRIDGING CLASSICAL ML AND MODERN LLMS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14400" y="1548743"/>
            <a:ext cx="5893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/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87636" y="1548743"/>
            <a:ext cx="625613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Developed a comprehensive NLP pipeline for text classification on a 20-category dataset, encompassing the entire data science lifecycle from raw data to production.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14400" y="2291693"/>
            <a:ext cx="5893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/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87636" y="2291693"/>
            <a:ext cx="625613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Implemented multiple methodologies including Traditional Machine Learning, Deep Learning with Keras, and State-of-the-Art Hugging Face Transformers.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3034643"/>
            <a:ext cx="5893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/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7636" y="3034643"/>
            <a:ext cx="625613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Focused on comparative performance analysis to identify the most robust models, culminating in a final deployment via the Streamlit framework.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3777593"/>
            <a:ext cx="5893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/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87636" y="3777593"/>
            <a:ext cx="625613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Successfully achieved high accuracy through rigorous feature extraction optimization and model fine-tuning on domain-specific data.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82296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DATA EXPLORATION:
UNDERSTANDING THE 20-NEWSGROUPS DISTRIBUTION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14400" y="1405868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dataset consists of 7,000 textual samples categorized into 20 distinct newsgroup labels, covering a wide range of topics from sports to science.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914400" y="2194471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Exploratory Data Analysis (EDA) revealed slight class imbalances, with categories like hockey having higher representation than miscellaneous religion topics.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914400" y="2983074"/>
            <a:ext cx="3357563" cy="118011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Text 4"/>
          <p:cNvSpPr/>
          <p:nvPr/>
        </p:nvSpPr>
        <p:spPr>
          <a:xfrm>
            <a:off x="1057275" y="3125949"/>
            <a:ext cx="3071813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7,000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7275" y="3400258"/>
            <a:ext cx="307181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00" kern="0" spc="1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TOTAL SAMPLES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1057275" y="3608849"/>
            <a:ext cx="3071813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7275" y="3883158"/>
            <a:ext cx="3071813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00" kern="0" spc="1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UNIQUE CATEGORIES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700588" y="1420155"/>
            <a:ext cx="335756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SAMPLE CLASS DISTRIBUTION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700588" y="1684474"/>
            <a:ext cx="2420950" cy="296466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Label Name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7121537" y="1684474"/>
            <a:ext cx="936613" cy="296466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Count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700588" y="1980940"/>
            <a:ext cx="2420950" cy="300038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rec.sport.hockey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121537" y="1980940"/>
            <a:ext cx="936613" cy="300038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389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700588" y="2280977"/>
            <a:ext cx="2420950" cy="300038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comp.windows.x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121537" y="2280977"/>
            <a:ext cx="936613" cy="300038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382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700588" y="2581015"/>
            <a:ext cx="2420950" cy="300038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rec.autos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121537" y="2581015"/>
            <a:ext cx="936613" cy="300038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381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700588" y="2881052"/>
            <a:ext cx="2420950" cy="300038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sci.crypt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121537" y="2881052"/>
            <a:ext cx="936613" cy="300038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372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00588" y="3181090"/>
            <a:ext cx="2420950" cy="300038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talk.politics.misc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121537" y="3181090"/>
            <a:ext cx="936613" cy="300038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293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700588" y="3481127"/>
            <a:ext cx="2420950" cy="300038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alt.atheism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121537" y="3481127"/>
            <a:ext cx="936613" cy="300038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285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700588" y="3927611"/>
            <a:ext cx="3357563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*Data quality confirmed: 0 Missing Values, 0 Duplicates.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82296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TEXT PREPROCESSING:
TRANSFORMING RAW TEXT INTO CLEAN DATA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14400" y="1527311"/>
            <a:ext cx="337704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NORMALIZATION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914400" y="1705905"/>
            <a:ext cx="33770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Conversion to lowercase and removal of non-alphabetic characters using Regex to eliminate noise like punctuation and numbers.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14400" y="2570299"/>
            <a:ext cx="337704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TOKENIZATION &amp; FILTERING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914400" y="2748893"/>
            <a:ext cx="33770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Splitting text into tokens and removing NLTK stop words. Tokens shorter than 3 characters are discarded to focus on semantic content.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14400" y="3613286"/>
            <a:ext cx="337704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LEMMATIZATION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914400" y="3791880"/>
            <a:ext cx="33770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Utilizing WordNetLemmatizer to reduce words to their dictionary root form, ensuring "running" and "ran" are treated as the same feature.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20065" y="1405868"/>
            <a:ext cx="4052460" cy="290036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8"/>
          <p:cNvSpPr/>
          <p:nvPr/>
        </p:nvSpPr>
        <p:spPr>
          <a:xfrm>
            <a:off x="4720065" y="1405868"/>
            <a:ext cx="28575" cy="2900363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2" name="Text 9"/>
          <p:cNvSpPr/>
          <p:nvPr/>
        </p:nvSpPr>
        <p:spPr>
          <a:xfrm>
            <a:off x="4934378" y="1620180"/>
            <a:ext cx="3623835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CLEANING LOGIC IMPLEMENTATION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934378" y="1868425"/>
            <a:ext cx="3623835" cy="1920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clean_text(text):
    text = text.lower()
    text = re.sub(</a:t>
            </a:r>
            <a:r>
              <a:rPr lang="en-US" sz="7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r'[^a-zA-Z]'</a:t>
            </a: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7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text)
    words = text.split()
    words = [
        lemmatizer.lemmatize(word)
        </a:t>
            </a:r>
            <a:r>
              <a:rPr lang="en-US" sz="7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 </a:t>
            </a:r>
            <a:r>
              <a:rPr lang="en-US" sz="7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words
        </a:t>
            </a:r>
            <a:r>
              <a:rPr lang="en-US" sz="7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 </a:t>
            </a:r>
            <a:r>
              <a:rPr lang="en-US" sz="7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</a:t>
            </a: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stop_words 
        </a:t>
            </a:r>
            <a:r>
              <a:rPr lang="en-US" sz="7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len(word) &gt; </a:t>
            </a:r>
            <a:r>
              <a:rPr lang="en-US" sz="7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]
    </a:t>
            </a:r>
            <a:r>
              <a:rPr lang="en-US" sz="7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.join(words)
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82296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FEATURE EXTRACTION:
TF-IDF VECTORIZATION STRATEGY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14400" y="1477305"/>
            <a:ext cx="4157663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 transform cleaned text into a numerical format suitable for machine learning, we employed the 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 Frequency-Inverse Document Frequency (TF-IDF)</a:t>
            </a:r>
            <a:r>
              <a:rPr lang="en-US" sz="10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algorithm.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914400" y="2391705"/>
            <a:ext cx="415766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strategy balances the importance of a word within a specific document against its frequency across the entire corpus, effectively highlighting discriminative terms while down-weighting common noise.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914400" y="3706155"/>
            <a:ext cx="4157663" cy="54861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706155"/>
            <a:ext cx="4157663" cy="548618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11182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TF-IDF(t, d) = TF(t, d) * IDF(t)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872163" y="1548743"/>
            <a:ext cx="25431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N-GRAM RANGE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872163" y="1698761"/>
            <a:ext cx="170199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(1, 3) - Unigrams to Trigrams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72163" y="2068450"/>
            <a:ext cx="25431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MAX FEATURES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872163" y="2218469"/>
            <a:ext cx="11572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30,000 Dimensions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872163" y="2588158"/>
            <a:ext cx="25431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MIN DOCUMENT FREQ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872163" y="2738177"/>
            <a:ext cx="7947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 Documents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72163" y="3107866"/>
            <a:ext cx="25431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TF SCALING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872163" y="3257885"/>
            <a:ext cx="12465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Sublinear (1 + log(tf))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82296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TRADITIONAL ML:
COMPARING LINEAR AND PROBABILISTIC MODELS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14400" y="1405868"/>
            <a:ext cx="5357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/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3703" y="1405868"/>
            <a:ext cx="314682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Evaluated three foundational models to establish a performance baseline for the 20-category classification task.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14400" y="2194471"/>
            <a:ext cx="5357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/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3703" y="2194471"/>
            <a:ext cx="314682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Utilized a stratified 80/20 train-test split to ensure each category was represented proportionally during evaluation.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14400" y="2983074"/>
            <a:ext cx="3286125" cy="937227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2983074"/>
            <a:ext cx="28575" cy="93722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1057275" y="3125949"/>
            <a:ext cx="30003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TOP PERFORMER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057275" y="3343108"/>
            <a:ext cx="300037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Linear SVM: 89.0%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7275" y="3617416"/>
            <a:ext cx="30003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Superior handling of high-dimensional TF-IDF features.</a:t>
            </a:r>
            <a:endParaRPr lang="en-US" sz="7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1405868"/>
            <a:ext cx="394335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82296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DEEP LEARNING:
NEURAL NETWORK ARCHITECTURE FOR NLP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14400" y="1405868"/>
            <a:ext cx="3068241" cy="5339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2"/>
          <p:cNvSpPr/>
          <p:nvPr/>
        </p:nvSpPr>
        <p:spPr>
          <a:xfrm>
            <a:off x="914400" y="1405868"/>
            <a:ext cx="28575" cy="53399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1085850" y="1520168"/>
            <a:ext cx="272534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INPUT LAYER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85850" y="1704119"/>
            <a:ext cx="272534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256 Neurons | ReLU Activation | TF-IDF Input Shape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914400" y="2025588"/>
            <a:ext cx="3068241" cy="5339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2025588"/>
            <a:ext cx="28575" cy="53399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1085850" y="2139888"/>
            <a:ext cx="272534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REGULARIZATION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5850" y="2323840"/>
            <a:ext cx="272534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Dropout (0.3) | Prevents Overfitting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914400" y="2645308"/>
            <a:ext cx="3068241" cy="5339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2645308"/>
            <a:ext cx="28575" cy="53399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1085850" y="2759608"/>
            <a:ext cx="272534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HIDDEN LAYER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5850" y="2943560"/>
            <a:ext cx="272534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128 Neurons | ReLU Activation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914400" y="3265029"/>
            <a:ext cx="3068241" cy="5339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4"/>
          <p:cNvSpPr/>
          <p:nvPr/>
        </p:nvSpPr>
        <p:spPr>
          <a:xfrm>
            <a:off x="914400" y="3265029"/>
            <a:ext cx="28575" cy="53399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1085850" y="3379329"/>
            <a:ext cx="272534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REGULARIZATION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85850" y="3563280"/>
            <a:ext cx="272534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Dropout (0.3) | Enhances Generalization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914400" y="3884749"/>
            <a:ext cx="3068241" cy="5339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1" name="Shape 18"/>
          <p:cNvSpPr/>
          <p:nvPr/>
        </p:nvSpPr>
        <p:spPr>
          <a:xfrm>
            <a:off x="914400" y="3884749"/>
            <a:ext cx="28575" cy="53399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1085850" y="3999049"/>
            <a:ext cx="269676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OUTPUT LAYER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85850" y="4183000"/>
            <a:ext cx="26967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20 Neurons | Softmax Activation | Multi-class Probabilities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382691" y="1548743"/>
            <a:ext cx="2857500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model was compiled using the </a:t>
            </a: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Adam optimizer</a:t>
            </a: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and </a:t>
            </a: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Sparse Categorical Crossentropy</a:t>
            </a: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loss. Training was managed by </a:t>
            </a: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EarlyStopping</a:t>
            </a: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to restore the best weights based on validation loss.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382691" y="3020244"/>
            <a:ext cx="2857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88.3%</a:t>
            </a:r>
            <a:endParaRPr lang="en-US" sz="2450" dirty="0"/>
          </a:p>
        </p:txBody>
      </p:sp>
      <p:sp>
        <p:nvSpPr>
          <p:cNvPr id="26" name="Text 23"/>
          <p:cNvSpPr/>
          <p:nvPr/>
        </p:nvSpPr>
        <p:spPr>
          <a:xfrm>
            <a:off x="4382691" y="3434581"/>
            <a:ext cx="28575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ACCURACY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35718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HUGGING FACE:
LEVERAGING STATE-OF-THE-ART TRANSFORMERS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14400" y="1823052"/>
            <a:ext cx="32861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THE PRE-TRAINED BASELINE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14400" y="2158808"/>
            <a:ext cx="7018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Utilized the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616273" y="2158808"/>
            <a:ext cx="14591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distilbert-base-uncased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075384" y="2158808"/>
            <a:ext cx="8393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model via the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14400" y="2390254"/>
            <a:ext cx="8661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Hugging Face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780580" y="2379538"/>
            <a:ext cx="6172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pipeline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397816" y="2390254"/>
            <a:ext cx="15823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API. This provided a high-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14400" y="2621700"/>
            <a:ext cx="30557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level entry point for sequence classification using 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2853147"/>
            <a:ext cx="2400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model pre-trained on the SST-2 dataset.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14400" y="3332838"/>
            <a:ext cx="3286125" cy="136434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11"/>
          <p:cNvSpPr/>
          <p:nvPr/>
        </p:nvSpPr>
        <p:spPr>
          <a:xfrm>
            <a:off x="914400" y="3332838"/>
            <a:ext cx="28575" cy="136434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1085850" y="3475713"/>
            <a:ext cx="29432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CRITICAL OBSERVATION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85850" y="3668595"/>
            <a:ext cx="2943225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Initial testing showed that pre-trained sentiment analysis models failed to generalize to the specific 20-category newsgroup topics, yielding "Negative/Positive" labels instead of domain-specific classes.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72025" y="1823052"/>
            <a:ext cx="32861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THE STRATEGIC SHIFT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72025" y="2121303"/>
            <a:ext cx="3286125" cy="9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 overcome the limitations of zero-shot classification, the project transitioned to </a:t>
            </a: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Supervised Fine-tuning</a:t>
            </a: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 This process involves retraining the top layers of the Transformer on our custom dataset.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72025" y="3332838"/>
            <a:ext cx="3286125" cy="69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By aligning the model's deep semantic understanding with our specific labels, we transform a general-purpose LLM into a specialized domain expert.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82296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FINE-TUNING PROCESS:
OPTIMIZING DISTILBERT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14400" y="1655899"/>
            <a:ext cx="353615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01. DATA TRANSFORMATION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914400" y="1863068"/>
            <a:ext cx="35361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Converted Pandas DataFrames into Hugging Face </a:t>
            </a: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objects. This enables efficient memory mapping and seamless integration with the Trainer API.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14400" y="2876001"/>
            <a:ext cx="353615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02. TOKENIZATION STRATEGY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914400" y="3083170"/>
            <a:ext cx="35361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Utilized </a:t>
            </a: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AutoTokenizer</a:t>
            </a: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with a maximum sequence length of 128. Applied dynamic padding and truncation to normalize input dimensions for the Transformer.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879181" y="1655899"/>
            <a:ext cx="353615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03. HYPERPARAMETER TUNING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879181" y="1884499"/>
            <a:ext cx="8304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Configured the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709642" y="1884499"/>
            <a:ext cx="102334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TrainingArguments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732984" y="1884499"/>
            <a:ext cx="168056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 balance convergence speed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79181" y="2067362"/>
            <a:ext cx="102691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and model stability.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879181" y="2285944"/>
            <a:ext cx="530423" cy="19430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1"/>
          <p:cNvSpPr/>
          <p:nvPr/>
        </p:nvSpPr>
        <p:spPr>
          <a:xfrm>
            <a:off x="4879181" y="2285944"/>
            <a:ext cx="530423" cy="19430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LR: 2e-5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5498902" y="2285944"/>
            <a:ext cx="639366" cy="19430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Text 13"/>
          <p:cNvSpPr/>
          <p:nvPr/>
        </p:nvSpPr>
        <p:spPr>
          <a:xfrm>
            <a:off x="5498902" y="2285944"/>
            <a:ext cx="639366" cy="19430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EPOCHS: 3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6227564" y="2285944"/>
            <a:ext cx="1078706" cy="19430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Text 15"/>
          <p:cNvSpPr/>
          <p:nvPr/>
        </p:nvSpPr>
        <p:spPr>
          <a:xfrm>
            <a:off x="6227564" y="2285944"/>
            <a:ext cx="1078706" cy="19430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WEIGHT DECAY: 0.01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879181" y="2944592"/>
            <a:ext cx="353615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04. TRAINER API EXECUTION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79181" y="3151761"/>
            <a:ext cx="35361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Leveraged the high-level </a:t>
            </a: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Trainer</a:t>
            </a: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class to manage the training loop, evaluation strategy, and checkpoint saving, ensuring the best model is retained.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82296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MODEL EVALUATION:
COMPREHENSIVE PERFORMANCE METRICS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14400" y="1477305"/>
            <a:ext cx="346471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CROSS-MODEL ACCURACY COMPARISON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914400" y="1741624"/>
            <a:ext cx="1114369" cy="28396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Methodology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2028769" y="1741624"/>
            <a:ext cx="1760209" cy="283964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Model Type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788978" y="1741624"/>
            <a:ext cx="590141" cy="28396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Accuracy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914400" y="2025588"/>
            <a:ext cx="1114369" cy="376833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Traditional ML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028769" y="2025588"/>
            <a:ext cx="1760209" cy="376833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Naive Bayes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788978" y="2025588"/>
            <a:ext cx="590141" cy="376833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83.3%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14400" y="2402421"/>
            <a:ext cx="1114369" cy="373261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Traditional ML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028769" y="2402421"/>
            <a:ext cx="1760209" cy="373261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Logistic Regression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788978" y="2402421"/>
            <a:ext cx="590141" cy="373261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86.5%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14400" y="2775682"/>
            <a:ext cx="1114369" cy="373261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Deep Learning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028769" y="2775682"/>
            <a:ext cx="1760209" cy="373261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Keras MLP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788978" y="2775682"/>
            <a:ext cx="590141" cy="373261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88.3%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14400" y="3148943"/>
            <a:ext cx="1114369" cy="373261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0B98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Traditional ML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028769" y="3148943"/>
            <a:ext cx="1760209" cy="373261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0B98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Linear SVM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788978" y="3148943"/>
            <a:ext cx="590141" cy="373261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0B98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89.0%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14400" y="3522204"/>
            <a:ext cx="1114369" cy="373261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Transformer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028769" y="3522204"/>
            <a:ext cx="1760209" cy="373261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DistilBERT (Fine-tuned)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788978" y="3522204"/>
            <a:ext cx="590141" cy="373261"/>
          </a:xfrm>
          <a:prstGeom prst="rect">
            <a:avLst/>
          </a:prstGeom>
          <a:noFill/>
          <a:ln/>
        </p:spPr>
        <p:txBody>
          <a:bodyPr wrap="none" lIns="0" tIns="136017" rIns="0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High*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914400" y="4006193"/>
            <a:ext cx="346471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*Fine-tuned LLM showed superior semantic understanding in complex categories.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250656" y="1477305"/>
            <a:ext cx="31646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CONFUSION MATRIX ANALYSIS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250656" y="1655899"/>
            <a:ext cx="316468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Heatmap visualization identified strong diagonal alignment, indicating high classification precision. Minor overlaps were noted between similar topics like 'Religion' and 'Atheism'.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250656" y="2615952"/>
            <a:ext cx="31646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CLASS-LEVEL ROBUSTNESS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250656" y="2794546"/>
            <a:ext cx="316468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Technical categories such as </a:t>
            </a: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sci.crypt</a:t>
            </a: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and </a:t>
            </a: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rec.sport.hockey</a:t>
            </a: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achieved near-perfect F1-scores due to distinct vocabulary signatures.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250656" y="3571735"/>
            <a:ext cx="31646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METRIC INTEGRATION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5250656" y="3750329"/>
            <a:ext cx="316468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Evaluation relied on a holistic view of Precision, Recall, and F1-Score to ensure the model wasn't biased toward majority classes.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82296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DEPLOYMENT:
BRINGING THE MODEL TO LIFE WITH STREAMLIT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14400" y="1548743"/>
            <a:ext cx="32861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MODEL PERSISTENCE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14400" y="1913074"/>
            <a:ext cx="29557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 transition from training to production, the best-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14400" y="2144520"/>
            <a:ext cx="6965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performing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610916" y="2144520"/>
            <a:ext cx="7000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SVM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311003" y="2144520"/>
            <a:ext cx="12608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model and the fitted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14400" y="2144520"/>
            <a:ext cx="3078956" cy="38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Vectorizer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535906" y="2375967"/>
            <a:ext cx="15573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were serialized using the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093244" y="2365251"/>
            <a:ext cx="4629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joblib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556164" y="2375967"/>
            <a:ext cx="4411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library.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14400" y="2784221"/>
            <a:ext cx="3286125" cy="61436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11"/>
          <p:cNvSpPr/>
          <p:nvPr/>
        </p:nvSpPr>
        <p:spPr>
          <a:xfrm>
            <a:off x="914400" y="2784221"/>
            <a:ext cx="28575" cy="614363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2784221"/>
            <a:ext cx="3286125" cy="614363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1182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joblib.dump(svm_model, 'svm_model.pkl')
joblib.dump(vectorizer, 'tfidf.pkl')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14400" y="3612896"/>
            <a:ext cx="3286125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ensures that the exact feature space and model weights are preserved for real-time inference.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72025" y="1548743"/>
            <a:ext cx="32861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INTERACTIVE WEB APPLICATION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72025" y="1875569"/>
            <a:ext cx="3286125" cy="69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final model was integrated into a </a:t>
            </a: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application, providing a user-friendly interface for non-technical stakeholders.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72025" y="2834227"/>
            <a:ext cx="32861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REAL-TIME INPUT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772025" y="2984246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Users can paste raw text directly into the browser for instant analysis.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772025" y="3631425"/>
            <a:ext cx="32861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AUTOMATED PIPELINE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772025" y="3781444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app automatically applies the custom cleaning and vectorization logic.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72025" y="4428623"/>
            <a:ext cx="32861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INSTANT PREDICTION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772025" y="4578641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Displays the predicted newsgroup category with high confidence.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"/>
            <a:ext cx="82296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CONCLUSION &amp;
NEXT STEPS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14400" y="1548743"/>
            <a:ext cx="3429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14400" y="1818419"/>
            <a:ext cx="3429000" cy="990079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Methodological Comparison:</a:t>
            </a: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Successfully benchmarked classical ML, Deep Learning, and Transformer architectures on a complex 20-class dataset.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14400" y="2894223"/>
            <a:ext cx="3429000" cy="75863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Performance Leaders:</a:t>
            </a: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Linear SVM (89%) and Fine-tuned DistilBERT emerged as the most robust solutions for high-dimensional text.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914400" y="3738581"/>
            <a:ext cx="3429000" cy="75863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End-to-End Delivery:</a:t>
            </a: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Demonstrated a complete lifecycle from raw data cleaning to a functional Streamlit deployment.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629150" y="1548743"/>
            <a:ext cx="3429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FUTURE ROADMAP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29150" y="1818419"/>
            <a:ext cx="3429000" cy="75863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Advanced Architectures:</a:t>
            </a: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Transitioning to larger models like RoBERTa or DeBERTa to capture finer linguistic nuances.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629150" y="2662777"/>
            <a:ext cx="3429000" cy="75863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Data Augmentation:</a:t>
            </a: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Implementing synonym replacement and back-translation to balance minority classes.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629150" y="3507135"/>
            <a:ext cx="3429000" cy="527186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Production Focus:</a:t>
            </a:r>
            <a:r>
              <a:rPr lang="en-US" sz="950" dirty="0">
                <a:solidFill>
                  <a:srgbClr val="4B556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Optimizing LLM inference speed and exploring quantization for mobile-friendly deployment.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4754389"/>
            <a:ext cx="82296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FOCUS ON LLM FINE-TUNING FOR PRODUCTION-GRADE ACCURACY.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1290</Words>
  <Application>Microsoft Office PowerPoint</Application>
  <PresentationFormat>On-screen Show (16:9)</PresentationFormat>
  <Paragraphs>177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Courier New</vt:lpstr>
      <vt:lpstr>Inter</vt:lpstr>
      <vt:lpstr>Inter Black</vt:lpstr>
      <vt:lpstr>Inter Light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mustafa Ahmed</cp:lastModifiedBy>
  <cp:revision>2</cp:revision>
  <dcterms:created xsi:type="dcterms:W3CDTF">2026-05-15T20:14:03Z</dcterms:created>
  <dcterms:modified xsi:type="dcterms:W3CDTF">2026-05-16T06:43:18Z</dcterms:modified>
</cp:coreProperties>
</file>